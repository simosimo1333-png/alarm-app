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600200" cy="384048"/>
          </a:xfrm>
          <a:prstGeom prst="rect">
            <a:avLst/>
          </a:prstGeom>
          <a:noFill/>
          <a:ln w="12700">
            <a:solidFill>
              <a:srgbClr val="1B2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B2A4C"/>
                </a:solidFill>
                <a:latin typeface="Yu Gothic"/>
                <a:ea typeface="Yu Gothic"/>
              </a:rPr>
              <a:t>庁内検討用資料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12191695" cy="1965960"/>
          </a:xfrm>
          <a:prstGeom prst="rect">
            <a:avLst/>
          </a:prstGeom>
          <a:solidFill>
            <a:srgbClr val="1B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69748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Yu Gothic"/>
                <a:ea typeface="Yu Gothic"/>
              </a:rPr>
              <a:t>YAONA！ 今後の運営方針案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5547207" y="3456432"/>
            <a:ext cx="1097280" cy="22860"/>
          </a:xfrm>
          <a:prstGeom prst="rect">
            <a:avLst/>
          </a:prstGeom>
          <a:solidFill>
            <a:srgbClr val="5B8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DCE8F7"/>
                </a:solidFill>
                <a:latin typeface="Yu Gothic"/>
                <a:ea typeface="Yu Gothic"/>
              </a:rPr>
              <a:t>参加者の取扱 ・ 参加後のつながり ・ サポーター制度の整理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8920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B7480"/>
                </a:solidFill>
                <a:latin typeface="Yu Gothic"/>
                <a:ea typeface="Yu Gothic"/>
              </a:rPr>
              <a:t>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75488"/>
          </a:xfrm>
          <a:prstGeom prst="rect">
            <a:avLst/>
          </a:prstGeom>
          <a:solidFill>
            <a:srgbClr val="1B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3657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1B2A4C"/>
                </a:solidFill>
                <a:latin typeface="Yu Gothic"/>
                <a:ea typeface="Yu Gothic"/>
              </a:rPr>
              <a:t>検討事項の全体像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5855" cy="16459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480"/>
                </a:solidFill>
                <a:latin typeface="Yu Gothic"/>
                <a:ea typeface="Yu Gothic"/>
              </a:rPr>
              <a:t>YAONA！の持続的な運営に向けて、次の3点を整理する。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480"/>
                </a:solidFill>
                <a:latin typeface="Yu Gothic"/>
                <a:ea typeface="Yu Gothic"/>
              </a:rPr>
              <a:t>YAONA！ 今後の運営方針案（庁内検討用）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480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3515258" cy="36576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1783080"/>
            <a:ext cx="3295802" cy="64008"/>
          </a:xfrm>
          <a:prstGeom prst="rect">
            <a:avLst/>
          </a:prstGeom>
          <a:solidFill>
            <a:srgbClr val="1B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31365" y="2148840"/>
            <a:ext cx="658368" cy="658368"/>
          </a:xfrm>
          <a:prstGeom prst="ellipse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17520"/>
            <a:ext cx="31494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50" b="1" i="0">
                <a:solidFill>
                  <a:srgbClr val="1B2A4C"/>
                </a:solidFill>
                <a:latin typeface="Yu Gothic"/>
                <a:ea typeface="Yu Gothic"/>
              </a:rPr>
              <a:t>参加者の取扱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57600"/>
            <a:ext cx="314949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333A45"/>
                </a:solidFill>
                <a:latin typeface="Yu Gothic"/>
                <a:ea typeface="Yu Gothic"/>
              </a:rPr>
              <a:t>参加は「1人2回まで」</a:t>
            </a:r>
          </a:p>
          <a:p>
            <a:pPr algn="ctr">
              <a:lnSpc>
                <a:spcPct val="120000"/>
              </a:lnSpc>
              <a:spcBef>
                <a:spcPts val="1200"/>
              </a:spcBef>
            </a:pPr>
            <a:r>
              <a:rPr sz="1200" b="0" i="0">
                <a:solidFill>
                  <a:srgbClr val="333A45"/>
                </a:solidFill>
                <a:latin typeface="Yu Gothic"/>
                <a:ea typeface="Yu Gothic"/>
              </a:rPr>
              <a:t>新しい若手に開かれた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333A45"/>
                </a:solidFill>
                <a:latin typeface="Yu Gothic"/>
                <a:ea typeface="Yu Gothic"/>
              </a:rPr>
              <a:t>入口であり続ける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8218" y="1783080"/>
            <a:ext cx="3515258" cy="36576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47946" y="1783080"/>
            <a:ext cx="3295802" cy="64008"/>
          </a:xfrm>
          <a:prstGeom prst="rect">
            <a:avLst/>
          </a:prstGeom>
          <a:solidFill>
            <a:srgbClr val="1B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66663" y="2148840"/>
            <a:ext cx="658368" cy="658368"/>
          </a:xfrm>
          <a:prstGeom prst="ellipse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017520"/>
            <a:ext cx="31494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50" b="1" i="0">
                <a:solidFill>
                  <a:srgbClr val="1B2A4C"/>
                </a:solidFill>
                <a:latin typeface="Yu Gothic"/>
                <a:ea typeface="Yu Gothic"/>
              </a:rPr>
              <a:t>参加後のつながり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1098" y="3657600"/>
            <a:ext cx="314949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333A45"/>
                </a:solidFill>
                <a:latin typeface="Yu Gothic"/>
                <a:ea typeface="Yu Gothic"/>
              </a:rPr>
              <a:t>つながりの昇華・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333A45"/>
                </a:solidFill>
                <a:latin typeface="Yu Gothic"/>
                <a:ea typeface="Yu Gothic"/>
              </a:rPr>
              <a:t>スピンアウトを促す</a:t>
            </a:r>
          </a:p>
          <a:p>
            <a:pPr algn="ctr">
              <a:lnSpc>
                <a:spcPct val="120000"/>
              </a:lnSpc>
              <a:spcBef>
                <a:spcPts val="1200"/>
              </a:spcBef>
            </a:pPr>
            <a:r>
              <a:rPr sz="1200" b="0" i="0">
                <a:solidFill>
                  <a:srgbClr val="333A45"/>
                </a:solidFill>
                <a:latin typeface="Yu Gothic"/>
                <a:ea typeface="Yu Gothic"/>
              </a:rPr>
              <a:t>市は“軽い後押し”に徹する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73516" y="1783080"/>
            <a:ext cx="3515258" cy="36576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83244" y="1783080"/>
            <a:ext cx="3295802" cy="64008"/>
          </a:xfrm>
          <a:prstGeom prst="rect">
            <a:avLst/>
          </a:prstGeom>
          <a:solidFill>
            <a:srgbClr val="1B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01962" y="2148840"/>
            <a:ext cx="658368" cy="658368"/>
          </a:xfrm>
          <a:prstGeom prst="ellipse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6396" y="3017520"/>
            <a:ext cx="31494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50" b="1" i="0">
                <a:solidFill>
                  <a:srgbClr val="1B2A4C"/>
                </a:solidFill>
                <a:latin typeface="Yu Gothic"/>
                <a:ea typeface="Yu Gothic"/>
              </a:rPr>
              <a:t>サポーター制度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6396" y="3657600"/>
            <a:ext cx="314949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333A45"/>
                </a:solidFill>
                <a:latin typeface="Yu Gothic"/>
                <a:ea typeface="Yu Gothic"/>
              </a:rPr>
              <a:t>役割と謝礼の明確化</a:t>
            </a:r>
          </a:p>
          <a:p>
            <a:pPr algn="ctr">
              <a:lnSpc>
                <a:spcPct val="120000"/>
              </a:lnSpc>
              <a:spcBef>
                <a:spcPts val="1200"/>
              </a:spcBef>
            </a:pPr>
            <a:r>
              <a:rPr sz="1200" b="0" i="0">
                <a:solidFill>
                  <a:srgbClr val="333A45"/>
                </a:solidFill>
                <a:latin typeface="Yu Gothic"/>
                <a:ea typeface="Yu Gothic"/>
              </a:rPr>
              <a:t>謝礼に加え“学びの機会”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333A45"/>
                </a:solidFill>
                <a:latin typeface="Yu Gothic"/>
                <a:ea typeface="Yu Gothic"/>
              </a:rPr>
              <a:t>としての価値を整理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75488"/>
          </a:xfrm>
          <a:prstGeom prst="rect">
            <a:avLst/>
          </a:prstGeom>
          <a:solidFill>
            <a:srgbClr val="1B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3657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1B2A4C"/>
                </a:solidFill>
                <a:latin typeface="Yu Gothic"/>
                <a:ea typeface="Yu Gothic"/>
              </a:rPr>
              <a:t>現状① 参加者の取扱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5855" cy="16459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480"/>
                </a:solidFill>
                <a:latin typeface="Yu Gothic"/>
                <a:ea typeface="Yu Gothic"/>
              </a:rPr>
              <a:t>リピーターの良さと、新規参加者への影響を整理する。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480"/>
                </a:solidFill>
                <a:latin typeface="Yu Gothic"/>
                <a:ea typeface="Yu Gothic"/>
              </a:rPr>
              <a:t>YAONA！ 今後の運営方針案（庁内検討用）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480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3515258" cy="3840480"/>
          </a:xfrm>
          <a:prstGeom prst="roundRect">
            <a:avLst>
              <a:gd name="adj" fmla="val 4500"/>
            </a:avLst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3515258" cy="566928"/>
          </a:xfrm>
          <a:prstGeom prst="roundRect">
            <a:avLst>
              <a:gd name="adj" fmla="val 4500"/>
            </a:avLst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</a:rPr>
              <a:t>◎ 良い点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514600"/>
            <a:ext cx="3003194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・リピーターはグループワークを円滑にしてくれる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・場の雰囲気づくりに貢献している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1691640"/>
            <a:ext cx="3515258" cy="3840480"/>
          </a:xfrm>
          <a:prstGeom prst="roundRect">
            <a:avLst>
              <a:gd name="adj" fmla="val 4500"/>
            </a:avLst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691640"/>
            <a:ext cx="3515258" cy="566928"/>
          </a:xfrm>
          <a:prstGeom prst="roundRect">
            <a:avLst>
              <a:gd name="adj" fmla="val 4500"/>
            </a:avLst>
          </a:prstGeom>
          <a:solidFill>
            <a:srgbClr val="C9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1B2A4C"/>
                </a:solidFill>
                <a:latin typeface="Yu Gothic"/>
                <a:ea typeface="Yu Gothic"/>
              </a:rPr>
              <a:t>△ 懸念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4250" y="2514600"/>
            <a:ext cx="3003194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・既存の輪が強くなると、新規参加者が入りにくくなる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・“常連の場”になると、入口としての機能が弱まる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3516" y="1691640"/>
            <a:ext cx="3515258" cy="3840480"/>
          </a:xfrm>
          <a:prstGeom prst="roundRect">
            <a:avLst>
              <a:gd name="adj" fmla="val 4500"/>
            </a:avLst>
          </a:prstGeom>
          <a:solidFill>
            <a:srgbClr val="DCE8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73516" y="1691640"/>
            <a:ext cx="3515258" cy="566928"/>
          </a:xfrm>
          <a:prstGeom prst="roundRect">
            <a:avLst>
              <a:gd name="adj" fmla="val 4500"/>
            </a:avLst>
          </a:prstGeom>
          <a:solidFill>
            <a:srgbClr val="1B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</a:rPr>
              <a:t>→ 必要な対応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9548" y="2514600"/>
            <a:ext cx="3003194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・YAONA！を新しい若手に開き続ける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・参加ルールを明確にし、運営で場をコントロールする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75488"/>
          </a:xfrm>
          <a:prstGeom prst="rect">
            <a:avLst/>
          </a:prstGeom>
          <a:solidFill>
            <a:srgbClr val="1B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3657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1B2A4C"/>
                </a:solidFill>
                <a:latin typeface="Yu Gothic"/>
                <a:ea typeface="Yu Gothic"/>
              </a:rPr>
              <a:t>現状② 参加後のつながり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5855" cy="16459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480"/>
                </a:solidFill>
                <a:latin typeface="Yu Gothic"/>
                <a:ea typeface="Yu Gothic"/>
              </a:rPr>
              <a:t>セミナー後の展開をどう促すかが課題となっている。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480"/>
                </a:solidFill>
                <a:latin typeface="Yu Gothic"/>
                <a:ea typeface="Yu Gothic"/>
              </a:rPr>
              <a:t>YAONA！ 今後の運営方針案（庁内検討用）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480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3515258" cy="3840480"/>
          </a:xfrm>
          <a:prstGeom prst="roundRect">
            <a:avLst>
              <a:gd name="adj" fmla="val 4500"/>
            </a:avLst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3515258" cy="566928"/>
          </a:xfrm>
          <a:prstGeom prst="roundRect">
            <a:avLst>
              <a:gd name="adj" fmla="val 4500"/>
            </a:avLst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</a:rPr>
              <a:t>◎ 良い点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514600"/>
            <a:ext cx="3003194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・セミナー内で良いつながりが生まれている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・「もっと話したい」という声もある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1691640"/>
            <a:ext cx="3515258" cy="3840480"/>
          </a:xfrm>
          <a:prstGeom prst="roundRect">
            <a:avLst>
              <a:gd name="adj" fmla="val 4500"/>
            </a:avLst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691640"/>
            <a:ext cx="3515258" cy="566928"/>
          </a:xfrm>
          <a:prstGeom prst="roundRect">
            <a:avLst>
              <a:gd name="adj" fmla="val 4500"/>
            </a:avLst>
          </a:prstGeom>
          <a:solidFill>
            <a:srgbClr val="C9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1B2A4C"/>
                </a:solidFill>
                <a:latin typeface="Yu Gothic"/>
                <a:ea typeface="Yu Gothic"/>
              </a:rPr>
              <a:t>△ 懸念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4250" y="2514600"/>
            <a:ext cx="3003194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・その後の展開は参加者任せで、見えにくい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・つながりが一過性で終わる可能性がある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3516" y="1691640"/>
            <a:ext cx="3515258" cy="3840480"/>
          </a:xfrm>
          <a:prstGeom prst="roundRect">
            <a:avLst>
              <a:gd name="adj" fmla="val 4500"/>
            </a:avLst>
          </a:prstGeom>
          <a:solidFill>
            <a:srgbClr val="DCE8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73516" y="1691640"/>
            <a:ext cx="3515258" cy="566928"/>
          </a:xfrm>
          <a:prstGeom prst="roundRect">
            <a:avLst>
              <a:gd name="adj" fmla="val 4500"/>
            </a:avLst>
          </a:prstGeom>
          <a:solidFill>
            <a:srgbClr val="1B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</a:rPr>
              <a:t>→ 必要な対応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9548" y="2514600"/>
            <a:ext cx="3003194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・市が主導するのではなく、自発的な動きを促す仕組みをつくる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・“軽い後押し”のメニューを用意する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75488"/>
          </a:xfrm>
          <a:prstGeom prst="rect">
            <a:avLst/>
          </a:prstGeom>
          <a:solidFill>
            <a:srgbClr val="1B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3657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1B2A4C"/>
                </a:solidFill>
                <a:latin typeface="Yu Gothic"/>
                <a:ea typeface="Yu Gothic"/>
              </a:rPr>
              <a:t>現状③ サポーター制度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5855" cy="16459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480"/>
                </a:solidFill>
                <a:latin typeface="Yu Gothic"/>
                <a:ea typeface="Yu Gothic"/>
              </a:rPr>
              <a:t>有志の善意に依存しない、持続可能な制度への整理が必要。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480"/>
                </a:solidFill>
                <a:latin typeface="Yu Gothic"/>
                <a:ea typeface="Yu Gothic"/>
              </a:rPr>
              <a:t>YAONA！ 今後の運営方針案（庁内検討用）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480"/>
                </a:solidFill>
                <a:latin typeface="Yu Gothic"/>
                <a:ea typeface="Yu Gothic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3515258" cy="3840480"/>
          </a:xfrm>
          <a:prstGeom prst="roundRect">
            <a:avLst>
              <a:gd name="adj" fmla="val 4500"/>
            </a:avLst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3515258" cy="566928"/>
          </a:xfrm>
          <a:prstGeom prst="roundRect">
            <a:avLst>
              <a:gd name="adj" fmla="val 4500"/>
            </a:avLst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</a:rPr>
              <a:t>◎ 良い点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514600"/>
            <a:ext cx="3003194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・過去登壇者等が有志・ボランティア的に協力してくれている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・現場をよく知る心強い存在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1691640"/>
            <a:ext cx="3515258" cy="3840480"/>
          </a:xfrm>
          <a:prstGeom prst="roundRect">
            <a:avLst>
              <a:gd name="adj" fmla="val 4500"/>
            </a:avLst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691640"/>
            <a:ext cx="3515258" cy="566928"/>
          </a:xfrm>
          <a:prstGeom prst="roundRect">
            <a:avLst>
              <a:gd name="adj" fmla="val 4500"/>
            </a:avLst>
          </a:prstGeom>
          <a:solidFill>
            <a:srgbClr val="C9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1B2A4C"/>
                </a:solidFill>
                <a:latin typeface="Yu Gothic"/>
                <a:ea typeface="Yu Gothic"/>
              </a:rPr>
              <a:t>△ 懸念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4250" y="2514600"/>
            <a:ext cx="3003194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・本業がある中での協力に依存する構造は望ましくない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・役割や位置づけが不明確なまま負担が偏るおそれ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3516" y="1691640"/>
            <a:ext cx="3515258" cy="3840480"/>
          </a:xfrm>
          <a:prstGeom prst="roundRect">
            <a:avLst>
              <a:gd name="adj" fmla="val 4500"/>
            </a:avLst>
          </a:prstGeom>
          <a:solidFill>
            <a:srgbClr val="DCE8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73516" y="1691640"/>
            <a:ext cx="3515258" cy="566928"/>
          </a:xfrm>
          <a:prstGeom prst="roundRect">
            <a:avLst>
              <a:gd name="adj" fmla="val 4500"/>
            </a:avLst>
          </a:prstGeom>
          <a:solidFill>
            <a:srgbClr val="1B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</a:rPr>
              <a:t>→ 必要な対応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9548" y="2514600"/>
            <a:ext cx="3003194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・役割・謝礼を明確にする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・サポーター自身の“学びの価値”もあわせて整理する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75488"/>
          </a:xfrm>
          <a:prstGeom prst="rect">
            <a:avLst/>
          </a:prstGeom>
          <a:solidFill>
            <a:srgbClr val="1B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3657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1B2A4C"/>
                </a:solidFill>
                <a:latin typeface="Yu Gothic"/>
                <a:ea typeface="Yu Gothic"/>
              </a:rPr>
              <a:t>基本方針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5855" cy="16459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480"/>
                </a:solidFill>
                <a:latin typeface="Yu Gothic"/>
                <a:ea typeface="Yu Gothic"/>
              </a:rPr>
              <a:t>YAONA！ 今後の運営方針案（庁内検討用）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480"/>
                </a:solidFill>
                <a:latin typeface="Yu Gothic"/>
                <a:ea typeface="Yu Gothic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11185855" cy="1051560"/>
          </a:xfrm>
          <a:prstGeom prst="roundRect">
            <a:avLst>
              <a:gd name="adj" fmla="val 8000"/>
            </a:avLst>
          </a:prstGeom>
          <a:solidFill>
            <a:srgbClr val="1B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650" b="1" i="0">
                <a:solidFill>
                  <a:srgbClr val="FFFFFF"/>
                </a:solidFill>
                <a:latin typeface="Yu Gothic"/>
                <a:ea typeface="Yu Gothic"/>
              </a:rPr>
              <a:t>YAONA！は「新しい若手が参加する入口」。</a:t>
            </a: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650" b="1" i="0">
                <a:solidFill>
                  <a:srgbClr val="FFFFFF"/>
                </a:solidFill>
                <a:latin typeface="Yu Gothic"/>
                <a:ea typeface="Yu Gothic"/>
              </a:rPr>
              <a:t>そこで生まれたつながりは、参加者自身の意思で次に広がる場とする。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7171" y="2880360"/>
            <a:ext cx="2395728" cy="1371600"/>
          </a:xfrm>
          <a:prstGeom prst="roundRect">
            <a:avLst>
              <a:gd name="adj" fmla="val 9000"/>
            </a:avLst>
          </a:prstGeom>
          <a:solidFill>
            <a:srgbClr val="1B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450" b="1" i="0">
                <a:solidFill>
                  <a:srgbClr val="FFFFFF"/>
                </a:solidFill>
                <a:latin typeface="Yu Gothic"/>
                <a:ea typeface="Yu Gothic"/>
              </a:rPr>
              <a:t>YAONA！</a:t>
            </a: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050" b="0" i="0">
                <a:solidFill>
                  <a:srgbClr val="FFFFFF"/>
                </a:solidFill>
                <a:latin typeface="Yu Gothic"/>
                <a:ea typeface="Yu Gothic"/>
              </a:rPr>
              <a:t>出会い・学びの入口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28619" y="3419856"/>
            <a:ext cx="320040" cy="292608"/>
          </a:xfrm>
          <a:prstGeom prst="rightArrow">
            <a:avLst/>
          </a:prstGeom>
          <a:solidFill>
            <a:srgbClr val="C9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94379" y="2880360"/>
            <a:ext cx="2395728" cy="1371600"/>
          </a:xfrm>
          <a:prstGeom prst="roundRect">
            <a:avLst>
              <a:gd name="adj" fmla="val 9000"/>
            </a:avLst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450" b="1" i="0">
                <a:solidFill>
                  <a:srgbClr val="FFFFFF"/>
                </a:solidFill>
                <a:latin typeface="Yu Gothic"/>
                <a:ea typeface="Yu Gothic"/>
              </a:rPr>
              <a:t>自発的なつながり</a:t>
            </a: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050" b="0" i="0">
                <a:solidFill>
                  <a:srgbClr val="FFFFFF"/>
                </a:solidFill>
                <a:latin typeface="Yu Gothic"/>
                <a:ea typeface="Yu Gothic"/>
              </a:rPr>
              <a:t>参加者の意思で継続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35827" y="3419856"/>
            <a:ext cx="320040" cy="292608"/>
          </a:xfrm>
          <a:prstGeom prst="rightArrow">
            <a:avLst/>
          </a:prstGeom>
          <a:solidFill>
            <a:srgbClr val="C9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1587" y="2880360"/>
            <a:ext cx="2395728" cy="1371600"/>
          </a:xfrm>
          <a:prstGeom prst="roundRect">
            <a:avLst>
              <a:gd name="adj" fmla="val 9000"/>
            </a:avLst>
          </a:prstGeom>
          <a:solidFill>
            <a:srgbClr val="5B8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450" b="1" i="0">
                <a:solidFill>
                  <a:srgbClr val="FFFFFF"/>
                </a:solidFill>
                <a:latin typeface="Yu Gothic"/>
                <a:ea typeface="Yu Gothic"/>
              </a:rPr>
              <a:t>小さな活動</a:t>
            </a: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050" b="0" i="0">
                <a:solidFill>
                  <a:srgbClr val="FFFFFF"/>
                </a:solidFill>
                <a:latin typeface="Yu Gothic"/>
                <a:ea typeface="Yu Gothic"/>
              </a:rPr>
              <a:t>座談会・勉強会など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743035" y="3419856"/>
            <a:ext cx="320040" cy="292608"/>
          </a:xfrm>
          <a:prstGeom prst="rightArrow">
            <a:avLst/>
          </a:prstGeom>
          <a:solidFill>
            <a:srgbClr val="C9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08795" y="2880360"/>
            <a:ext cx="2395728" cy="1371600"/>
          </a:xfrm>
          <a:prstGeom prst="roundRect">
            <a:avLst>
              <a:gd name="adj" fmla="val 9000"/>
            </a:avLst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450" b="1" i="0">
                <a:solidFill>
                  <a:srgbClr val="1B2A4C"/>
                </a:solidFill>
                <a:latin typeface="Yu Gothic"/>
                <a:ea typeface="Yu Gothic"/>
              </a:rPr>
              <a:t>地域・職場への還元</a:t>
            </a: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050" b="0" i="0">
                <a:solidFill>
                  <a:srgbClr val="1B2A4C"/>
                </a:solidFill>
                <a:latin typeface="Yu Gothic"/>
                <a:ea typeface="Yu Gothic"/>
              </a:rPr>
              <a:t>気づきと行動の広がり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74519" y="4800600"/>
            <a:ext cx="8442655" cy="68580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50" b="1" i="0">
                <a:solidFill>
                  <a:srgbClr val="1B2A4C"/>
                </a:solidFill>
                <a:latin typeface="Yu Gothic"/>
                <a:ea typeface="Yu Gothic"/>
              </a:rPr>
              <a:t>市の役割は「主導」ではなく、参加者が動き出すための“軽い後押し”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75488"/>
          </a:xfrm>
          <a:prstGeom prst="rect">
            <a:avLst/>
          </a:prstGeom>
          <a:solidFill>
            <a:srgbClr val="1B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3657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1B2A4C"/>
                </a:solidFill>
                <a:latin typeface="Yu Gothic"/>
                <a:ea typeface="Yu Gothic"/>
              </a:rPr>
              <a:t>参加者の取扱方針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5855" cy="16459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480"/>
                </a:solidFill>
                <a:latin typeface="Yu Gothic"/>
                <a:ea typeface="Yu Gothic"/>
              </a:rPr>
              <a:t>新しい若手が入りやすい場を保つため、参加ルールを明確にする。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480"/>
                </a:solidFill>
                <a:latin typeface="Yu Gothic"/>
                <a:ea typeface="Yu Gothic"/>
              </a:rPr>
              <a:t>YAONA！ 今後の運営方針案（庁内検討用）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480"/>
                </a:solidFill>
                <a:latin typeface="Yu Gothic"/>
                <a:ea typeface="Yu Gothic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5410047" cy="1371600"/>
          </a:xfrm>
          <a:prstGeom prst="roundRect">
            <a:avLst>
              <a:gd name="adj" fmla="val 7000"/>
            </a:avLst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58952" y="1984248"/>
            <a:ext cx="566928" cy="566928"/>
          </a:xfrm>
          <a:prstGeom prst="ellipse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FFFFFF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856232"/>
            <a:ext cx="412988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B2A4C"/>
                </a:solidFill>
                <a:latin typeface="Yu Gothic"/>
                <a:ea typeface="Yu Gothic"/>
              </a:rPr>
              <a:t>参加は1人2回まで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150" b="0" i="0">
                <a:solidFill>
                  <a:srgbClr val="6B7480"/>
                </a:solidFill>
                <a:latin typeface="Yu Gothic"/>
                <a:ea typeface="Yu Gothic"/>
              </a:rPr>
              <a:t>参加上限を募集要項に明記する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1600200"/>
            <a:ext cx="5410047" cy="1371600"/>
          </a:xfrm>
          <a:prstGeom prst="roundRect">
            <a:avLst>
              <a:gd name="adj" fmla="val 7000"/>
            </a:avLst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4759" y="1984248"/>
            <a:ext cx="566928" cy="566928"/>
          </a:xfrm>
          <a:prstGeom prst="ellipse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FFFFFF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0287" y="1856232"/>
            <a:ext cx="412988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B2A4C"/>
                </a:solidFill>
                <a:latin typeface="Yu Gothic"/>
                <a:ea typeface="Yu Gothic"/>
              </a:rPr>
              <a:t>初参加者を優先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150" b="0" i="0">
                <a:solidFill>
                  <a:srgbClr val="6B7480"/>
                </a:solidFill>
                <a:latin typeface="Yu Gothic"/>
                <a:ea typeface="Yu Gothic"/>
              </a:rPr>
              <a:t>申込多数の場合は初参加者を優先する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200400"/>
            <a:ext cx="5410047" cy="1371600"/>
          </a:xfrm>
          <a:prstGeom prst="roundRect">
            <a:avLst>
              <a:gd name="adj" fmla="val 7000"/>
            </a:avLst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8952" y="3584448"/>
            <a:ext cx="566928" cy="566928"/>
          </a:xfrm>
          <a:prstGeom prst="ellipse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FFFFFF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456432"/>
            <a:ext cx="412988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B2A4C"/>
                </a:solidFill>
                <a:latin typeface="Yu Gothic"/>
                <a:ea typeface="Yu Gothic"/>
              </a:rPr>
              <a:t>2回目参加者の役割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150" b="0" i="0">
                <a:solidFill>
                  <a:srgbClr val="6B7480"/>
                </a:solidFill>
                <a:latin typeface="Yu Gothic"/>
                <a:ea typeface="Yu Gothic"/>
              </a:rPr>
              <a:t>グループ内で場を温める役割を期待する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3200400"/>
            <a:ext cx="5410047" cy="1371600"/>
          </a:xfrm>
          <a:prstGeom prst="roundRect">
            <a:avLst>
              <a:gd name="adj" fmla="val 7000"/>
            </a:avLst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34759" y="3584448"/>
            <a:ext cx="566928" cy="566928"/>
          </a:xfrm>
          <a:prstGeom prst="ellipse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FFFFFF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0287" y="3456432"/>
            <a:ext cx="412988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B2A4C"/>
                </a:solidFill>
                <a:latin typeface="Yu Gothic"/>
                <a:ea typeface="Yu Gothic"/>
              </a:rPr>
              <a:t>配置の工夫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150" b="0" i="0">
                <a:solidFill>
                  <a:srgbClr val="6B7480"/>
                </a:solidFill>
                <a:latin typeface="Yu Gothic"/>
                <a:ea typeface="Yu Gothic"/>
              </a:rPr>
              <a:t>既存のつながりが固まりすぎないよう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480"/>
                </a:solidFill>
                <a:latin typeface="Yu Gothic"/>
                <a:ea typeface="Yu Gothic"/>
              </a:rPr>
              <a:t>グループ編成を調整する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029200"/>
            <a:ext cx="11185855" cy="731520"/>
          </a:xfrm>
          <a:prstGeom prst="roundRect">
            <a:avLst>
              <a:gd name="adj" fmla="val 10000"/>
            </a:avLst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50" b="1" i="0">
                <a:solidFill>
                  <a:srgbClr val="1B2A4C"/>
                </a:solidFill>
                <a:latin typeface="Yu Gothic"/>
                <a:ea typeface="Yu Gothic"/>
              </a:rPr>
              <a:t>上限設定は「排除」ではなく、新規参加者が入りやすい場を保つための運営上の工夫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75488"/>
          </a:xfrm>
          <a:prstGeom prst="rect">
            <a:avLst/>
          </a:prstGeom>
          <a:solidFill>
            <a:srgbClr val="1B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3657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1B2A4C"/>
                </a:solidFill>
                <a:latin typeface="Yu Gothic"/>
                <a:ea typeface="Yu Gothic"/>
              </a:rPr>
              <a:t>参加後支援案A：関心テーマの見える化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5855" cy="16459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480"/>
                </a:solidFill>
                <a:latin typeface="Yu Gothic"/>
                <a:ea typeface="Yu Gothic"/>
              </a:rPr>
              <a:t>「話したいこと」を起点に、参加者同士が自然につながるきっかけをつくる。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480"/>
                </a:solidFill>
                <a:latin typeface="Yu Gothic"/>
                <a:ea typeface="Yu Gothic"/>
              </a:rPr>
              <a:t>YAONA！ 今後の運営方針案（庁内検討用）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480"/>
                </a:solidFill>
                <a:latin typeface="Yu Gothic"/>
                <a:ea typeface="Yu Gothic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1828800" cy="402336"/>
          </a:xfrm>
          <a:prstGeom prst="roundRect">
            <a:avLst>
              <a:gd name="adj" fmla="val 50000"/>
            </a:avLst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Yu Gothic"/>
                <a:ea typeface="Yu Gothic"/>
              </a:rPr>
              <a:t>参加後支援 案A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11680"/>
            <a:ext cx="6812280" cy="2788920"/>
          </a:xfrm>
          <a:prstGeom prst="roundRect">
            <a:avLst>
              <a:gd name="adj" fmla="val 4500"/>
            </a:avLst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1284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E5FA3"/>
                </a:solidFill>
                <a:latin typeface="Yu Gothic"/>
                <a:ea typeface="Yu Gothic"/>
              </a:rPr>
              <a:t>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78608"/>
            <a:ext cx="6263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・終了時に「もっと話したいテーマ」「一緒に考えたいこと」をカードに記入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・近い関心を持つ参加者同士が、自然につながれるようにする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931920"/>
            <a:ext cx="1874519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E5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B2A4C"/>
                </a:solidFill>
                <a:latin typeface="Yu Gothic"/>
                <a:ea typeface="Yu Gothic"/>
              </a:rPr>
              <a:t>カードに記入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88336" y="4114799"/>
            <a:ext cx="219456" cy="201168"/>
          </a:xfrm>
          <a:prstGeom prst="rightArrow">
            <a:avLst/>
          </a:prstGeom>
          <a:solidFill>
            <a:srgbClr val="C9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44368" y="3931920"/>
            <a:ext cx="1874519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E5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B2A4C"/>
                </a:solidFill>
                <a:latin typeface="Yu Gothic"/>
                <a:ea typeface="Yu Gothic"/>
              </a:rPr>
              <a:t>テーマを見える化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55464" y="4114799"/>
            <a:ext cx="219456" cy="201168"/>
          </a:xfrm>
          <a:prstGeom prst="rightArrow">
            <a:avLst/>
          </a:prstGeom>
          <a:solidFill>
            <a:srgbClr val="C9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11496" y="3931920"/>
            <a:ext cx="1874519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E5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B2A4C"/>
                </a:solidFill>
                <a:latin typeface="Yu Gothic"/>
                <a:ea typeface="Yu Gothic"/>
              </a:rPr>
              <a:t>関心の近い人がつながる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2011680"/>
            <a:ext cx="4053535" cy="2788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35240" y="2011680"/>
            <a:ext cx="4053535" cy="548640"/>
          </a:xfrm>
          <a:prstGeom prst="roundRect">
            <a:avLst>
              <a:gd name="adj" fmla="val 4500"/>
            </a:avLst>
          </a:prstGeom>
          <a:solidFill>
            <a:srgbClr val="1B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50" b="1" i="0">
                <a:solidFill>
                  <a:srgbClr val="FFFFFF"/>
                </a:solidFill>
                <a:latin typeface="Yu Gothic"/>
                <a:ea typeface="Yu Gothic"/>
              </a:rPr>
              <a:t>市の役割（軽い後押し）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1271" y="2788920"/>
            <a:ext cx="3541471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・カード様式の準備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・テーマの整理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・希望者同士の接点づくり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074920"/>
            <a:ext cx="11185855" cy="685800"/>
          </a:xfrm>
          <a:prstGeom prst="roundRect">
            <a:avLst>
              <a:gd name="adj" fmla="val 10000"/>
            </a:avLst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1B2A4C"/>
                </a:solidFill>
                <a:latin typeface="Yu Gothic"/>
                <a:ea typeface="Yu Gothic"/>
              </a:rPr>
              <a:t>ポイント：つなぐのは市ではなく“テーマ”。市は道具と機会を用意する。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75488"/>
          </a:xfrm>
          <a:prstGeom prst="rect">
            <a:avLst/>
          </a:prstGeom>
          <a:solidFill>
            <a:srgbClr val="1B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3657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1B2A4C"/>
                </a:solidFill>
                <a:latin typeface="Yu Gothic"/>
                <a:ea typeface="Yu Gothic"/>
              </a:rPr>
              <a:t>参加後支援案B：小さな自主企画の芽出し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5855" cy="16459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480"/>
                </a:solidFill>
                <a:latin typeface="Yu Gothic"/>
                <a:ea typeface="Yu Gothic"/>
              </a:rPr>
              <a:t>参加者発の活動を、小さな単位から始められるように支える。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480"/>
                </a:solidFill>
                <a:latin typeface="Yu Gothic"/>
                <a:ea typeface="Yu Gothic"/>
              </a:rPr>
              <a:t>YAONA！ 今後の運営方針案（庁内検討用）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480"/>
                </a:solidFill>
                <a:latin typeface="Yu Gothic"/>
                <a:ea typeface="Yu Gothic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1828800" cy="402336"/>
          </a:xfrm>
          <a:prstGeom prst="roundRect">
            <a:avLst>
              <a:gd name="adj" fmla="val 50000"/>
            </a:avLst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Yu Gothic"/>
                <a:ea typeface="Yu Gothic"/>
              </a:rPr>
              <a:t>参加後支援 案B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11680"/>
            <a:ext cx="6812280" cy="2788920"/>
          </a:xfrm>
          <a:prstGeom prst="roundRect">
            <a:avLst>
              <a:gd name="adj" fmla="val 4500"/>
            </a:avLst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1284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E5FA3"/>
                </a:solidFill>
                <a:latin typeface="Yu Gothic"/>
                <a:ea typeface="Yu Gothic"/>
              </a:rPr>
              <a:t>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78608"/>
            <a:ext cx="6263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・参加者が“小さく”始められる活動の形を用意する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・ハードルの低い形から、無理なく一歩を踏み出せるようにする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931920"/>
            <a:ext cx="192024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E5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1B2A4C"/>
                </a:solidFill>
                <a:latin typeface="Yu Gothic"/>
                <a:ea typeface="Yu Gothic"/>
              </a:rPr>
              <a:t>3人程度の座談会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3931920"/>
            <a:ext cx="192024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E5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1B2A4C"/>
                </a:solidFill>
                <a:latin typeface="Yu Gothic"/>
                <a:ea typeface="Yu Gothic"/>
              </a:rPr>
              <a:t>職場見学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7800" y="3931920"/>
            <a:ext cx="192024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E5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1B2A4C"/>
                </a:solidFill>
                <a:latin typeface="Yu Gothic"/>
                <a:ea typeface="Yu Gothic"/>
              </a:rPr>
              <a:t>勉強会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011680"/>
            <a:ext cx="4053535" cy="2788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35240" y="2011680"/>
            <a:ext cx="4053535" cy="548640"/>
          </a:xfrm>
          <a:prstGeom prst="roundRect">
            <a:avLst>
              <a:gd name="adj" fmla="val 4500"/>
            </a:avLst>
          </a:prstGeom>
          <a:solidFill>
            <a:srgbClr val="1B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50" b="1" i="0">
                <a:solidFill>
                  <a:srgbClr val="FFFFFF"/>
                </a:solidFill>
                <a:latin typeface="Yu Gothic"/>
                <a:ea typeface="Yu Gothic"/>
              </a:rPr>
              <a:t>市の役割（軽い後押し）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1271" y="2788920"/>
            <a:ext cx="3541471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・企画テンプレートの提供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・相談窓口の設置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・会場情報の提供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074920"/>
            <a:ext cx="11185855" cy="685800"/>
          </a:xfrm>
          <a:prstGeom prst="roundRect">
            <a:avLst>
              <a:gd name="adj" fmla="val 10000"/>
            </a:avLst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1B2A4C"/>
                </a:solidFill>
                <a:latin typeface="Yu Gothic"/>
                <a:ea typeface="Yu Gothic"/>
              </a:rPr>
              <a:t>ポイント：市は主催者にはならず、参加者発の活動を後押しする。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75488"/>
          </a:xfrm>
          <a:prstGeom prst="rect">
            <a:avLst/>
          </a:prstGeom>
          <a:solidFill>
            <a:srgbClr val="1B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3657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1B2A4C"/>
                </a:solidFill>
                <a:latin typeface="Yu Gothic"/>
                <a:ea typeface="Yu Gothic"/>
              </a:rPr>
              <a:t>参加後支援案C：次回YAONA！での活動紹介枠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5855" cy="16459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480"/>
                </a:solidFill>
                <a:latin typeface="Yu Gothic"/>
                <a:ea typeface="Yu Gothic"/>
              </a:rPr>
              <a:t>参加者発の動きを可視化し、次の一歩を後押しする。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480"/>
                </a:solidFill>
                <a:latin typeface="Yu Gothic"/>
                <a:ea typeface="Yu Gothic"/>
              </a:rPr>
              <a:t>YAONA！ 今後の運営方針案（庁内検討用）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480"/>
                </a:solidFill>
                <a:latin typeface="Yu Gothic"/>
                <a:ea typeface="Yu Gothic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1828800" cy="402336"/>
          </a:xfrm>
          <a:prstGeom prst="roundRect">
            <a:avLst>
              <a:gd name="adj" fmla="val 50000"/>
            </a:avLst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Yu Gothic"/>
                <a:ea typeface="Yu Gothic"/>
              </a:rPr>
              <a:t>参加後支援 案C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11680"/>
            <a:ext cx="6812280" cy="2788920"/>
          </a:xfrm>
          <a:prstGeom prst="roundRect">
            <a:avLst>
              <a:gd name="adj" fmla="val 4500"/>
            </a:avLst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1284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E5FA3"/>
                </a:solidFill>
                <a:latin typeface="Yu Gothic"/>
                <a:ea typeface="Yu Gothic"/>
              </a:rPr>
              <a:t>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78608"/>
            <a:ext cx="6263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・参加者発で生まれた小さな動きを、次回YAONA！の冒頭や休憩時間に紹介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461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E5FA3"/>
                </a:solidFill>
                <a:latin typeface="Yu Gothic"/>
                <a:ea typeface="Yu Gothic"/>
              </a:rPr>
              <a:t>効果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11880"/>
            <a:ext cx="6263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・参加者の自発的な活動が“見える”ようになる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・次の参加者にも波及し、動き出す人が増える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2011680"/>
            <a:ext cx="4053535" cy="2788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35240" y="2011680"/>
            <a:ext cx="4053535" cy="548640"/>
          </a:xfrm>
          <a:prstGeom prst="roundRect">
            <a:avLst>
              <a:gd name="adj" fmla="val 4500"/>
            </a:avLst>
          </a:prstGeom>
          <a:solidFill>
            <a:srgbClr val="1B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50" b="1" i="0">
                <a:solidFill>
                  <a:srgbClr val="FFFFFF"/>
                </a:solidFill>
                <a:latin typeface="Yu Gothic"/>
                <a:ea typeface="Yu Gothic"/>
              </a:rPr>
              <a:t>市の役割（軽い後押し）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1271" y="2788920"/>
            <a:ext cx="3541471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・紹介機会の提供に留める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・（企画・運営は参加者が担う）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074920"/>
            <a:ext cx="11185855" cy="685800"/>
          </a:xfrm>
          <a:prstGeom prst="roundRect">
            <a:avLst>
              <a:gd name="adj" fmla="val 10000"/>
            </a:avLst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1B2A4C"/>
                </a:solidFill>
                <a:latin typeface="Yu Gothic"/>
                <a:ea typeface="Yu Gothic"/>
              </a:rPr>
              <a:t>ポイント：動きの共有が、次に踏み出す人の心理的ハードルを下げる。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75488"/>
          </a:xfrm>
          <a:prstGeom prst="rect">
            <a:avLst/>
          </a:prstGeom>
          <a:solidFill>
            <a:srgbClr val="1B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3657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1B2A4C"/>
                </a:solidFill>
                <a:latin typeface="Yu Gothic"/>
                <a:ea typeface="Yu Gothic"/>
              </a:rPr>
              <a:t>サポーター制度の方針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5855" cy="16459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480"/>
                </a:solidFill>
                <a:latin typeface="Yu Gothic"/>
                <a:ea typeface="Yu Gothic"/>
              </a:rPr>
              <a:t>YAONA！ 今後の運営方針案（庁内検討用）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480"/>
                </a:solidFill>
                <a:latin typeface="Yu Gothic"/>
                <a:ea typeface="Yu Gothic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11185855" cy="777240"/>
          </a:xfrm>
          <a:prstGeom prst="roundRect">
            <a:avLst>
              <a:gd name="adj" fmla="val 10000"/>
            </a:avLst>
          </a:prstGeom>
          <a:solidFill>
            <a:srgbClr val="1B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</a:rPr>
              <a:t>正式に役割を依頼する場合は謝礼を支払い、「謝礼」と「学び」を別の価値として整理する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31720"/>
            <a:ext cx="5364327" cy="288036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2331720"/>
            <a:ext cx="5364327" cy="566928"/>
          </a:xfrm>
          <a:prstGeom prst="roundRect">
            <a:avLst>
              <a:gd name="adj" fmla="val 5000"/>
            </a:avLst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450" b="1" i="0">
                <a:solidFill>
                  <a:srgbClr val="FFFFFF"/>
                </a:solidFill>
                <a:latin typeface="Yu Gothic"/>
                <a:ea typeface="Yu Gothic"/>
              </a:rPr>
              <a:t>謝礼 ― 役割への対価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154680"/>
            <a:ext cx="4779111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・正式に役割を依頼する場合は謝礼を支払う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・役割と責任の所在を明確にする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4447" y="2331720"/>
            <a:ext cx="5364327" cy="288036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24447" y="2331720"/>
            <a:ext cx="5364327" cy="566928"/>
          </a:xfrm>
          <a:prstGeom prst="roundRect">
            <a:avLst>
              <a:gd name="adj" fmla="val 5000"/>
            </a:avLst>
          </a:prstGeom>
          <a:solidFill>
            <a:srgbClr val="1B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450" b="1" i="0">
                <a:solidFill>
                  <a:srgbClr val="FFFFFF"/>
                </a:solidFill>
                <a:latin typeface="Yu Gothic"/>
                <a:ea typeface="Yu Gothic"/>
              </a:rPr>
              <a:t>学び ― 参加そのものの価値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7055" y="3154680"/>
            <a:ext cx="4779111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・若手社会人の“生の声”を聞くことができる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・支援を通じて、自身の学び・研修の機会になる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250" b="0" i="0">
                <a:solidFill>
                  <a:srgbClr val="333A45"/>
                </a:solidFill>
                <a:latin typeface="Yu Gothic"/>
                <a:ea typeface="Yu Gothic"/>
              </a:rPr>
              <a:t>・若手との対話を通じ、地域や職場の実情を知る機会になる</a:t>
            </a:r>
          </a:p>
        </p:txBody>
      </p:sp>
      <p:sp>
        <p:nvSpPr>
          <p:cNvPr id="15" name="Oval 14"/>
          <p:cNvSpPr/>
          <p:nvPr/>
        </p:nvSpPr>
        <p:spPr>
          <a:xfrm>
            <a:off x="5885535" y="3520440"/>
            <a:ext cx="420624" cy="42062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2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1B2A4C"/>
                </a:solidFill>
                <a:latin typeface="Yu Gothic"/>
                <a:ea typeface="Yu Gothic"/>
              </a:rPr>
              <a:t>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44068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6B7480"/>
                </a:solidFill>
                <a:latin typeface="Yu Gothic"/>
                <a:ea typeface="Yu Gothic"/>
              </a:rPr>
              <a:t>依頼の際は、謝礼とあわせて“学びの機会”としての価値も伝える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75488"/>
          </a:xfrm>
          <a:prstGeom prst="rect">
            <a:avLst/>
          </a:prstGeom>
          <a:solidFill>
            <a:srgbClr val="1B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3657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1B2A4C"/>
                </a:solidFill>
                <a:latin typeface="Yu Gothic"/>
                <a:ea typeface="Yu Gothic"/>
              </a:rPr>
              <a:t>サポーター向け講座案と次回試行事項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5855" cy="16459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480"/>
                </a:solidFill>
                <a:latin typeface="Yu Gothic"/>
                <a:ea typeface="Yu Gothic"/>
              </a:rPr>
              <a:t>YAONA！ 今後の運営方針案（庁内検討用）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480"/>
                </a:solidFill>
                <a:latin typeface="Yu Gothic"/>
                <a:ea typeface="Yu Gothic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2A4C"/>
                </a:solidFill>
                <a:latin typeface="Yu Gothic"/>
                <a:ea typeface="Yu Gothic"/>
              </a:rPr>
              <a:t>■ 清原氏による事前講座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133856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1B2A4C"/>
                </a:solidFill>
                <a:latin typeface="Yu Gothic"/>
                <a:ea typeface="Yu Gothic"/>
              </a:rPr>
              <a:t>コーチング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1133856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1B2A4C"/>
                </a:solidFill>
                <a:latin typeface="Yu Gothic"/>
                <a:ea typeface="Yu Gothic"/>
              </a:rPr>
              <a:t>傾聴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1133856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1B2A4C"/>
                </a:solidFill>
                <a:latin typeface="Yu Gothic"/>
                <a:ea typeface="Yu Gothic"/>
              </a:rPr>
              <a:t>対話の場づくり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467" y="178308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1B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DCE8F7"/>
                </a:solidFill>
                <a:latin typeface="Yu Gothic"/>
                <a:ea typeface="Yu Gothic"/>
              </a:rPr>
              <a:t>STEP 1</a:t>
            </a: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</a:rPr>
              <a:t>事前講座</a:t>
            </a: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sz="1050" b="0" i="0">
                <a:solidFill>
                  <a:srgbClr val="FFFFFF"/>
                </a:solidFill>
                <a:latin typeface="Yu Gothic"/>
                <a:ea typeface="Yu Gothic"/>
              </a:rPr>
              <a:t>清原氏による講義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88739" y="2217420"/>
            <a:ext cx="310896" cy="274320"/>
          </a:xfrm>
          <a:prstGeom prst="rightArrow">
            <a:avLst/>
          </a:prstGeom>
          <a:solidFill>
            <a:srgbClr val="C9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72787" y="178308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DCE8F7"/>
                </a:solidFill>
                <a:latin typeface="Yu Gothic"/>
                <a:ea typeface="Yu Gothic"/>
              </a:rPr>
              <a:t>STEP 2</a:t>
            </a: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</a:rPr>
              <a:t>YAONA！当日</a:t>
            </a: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sz="1050" b="0" i="0">
                <a:solidFill>
                  <a:srgbClr val="FFFFFF"/>
                </a:solidFill>
                <a:latin typeface="Yu Gothic"/>
                <a:ea typeface="Yu Gothic"/>
              </a:rPr>
              <a:t>学びを現場で実践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792059" y="2217420"/>
            <a:ext cx="310896" cy="274320"/>
          </a:xfrm>
          <a:prstGeom prst="rightArrow">
            <a:avLst/>
          </a:prstGeom>
          <a:solidFill>
            <a:srgbClr val="C9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76107" y="178308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5B8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DCE8F7"/>
                </a:solidFill>
                <a:latin typeface="Yu Gothic"/>
                <a:ea typeface="Yu Gothic"/>
              </a:rPr>
              <a:t>STEP 3</a:t>
            </a: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</a:rPr>
              <a:t>終了後</a:t>
            </a: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sz="1050" b="0" i="0">
                <a:solidFill>
                  <a:srgbClr val="FFFFFF"/>
                </a:solidFill>
                <a:latin typeface="Yu Gothic"/>
                <a:ea typeface="Yu Gothic"/>
              </a:rPr>
              <a:t>振り返り・共有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246120"/>
            <a:ext cx="11185855" cy="13716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40156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2A4C"/>
                </a:solidFill>
                <a:latin typeface="Yu Gothic"/>
                <a:ea typeface="Yu Gothic"/>
              </a:rPr>
              <a:t>■ 次回までに決めること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886200"/>
            <a:ext cx="5410047" cy="713232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4088" y="4059936"/>
            <a:ext cx="365760" cy="365760"/>
          </a:xfrm>
          <a:prstGeom prst="ellipse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Yu Gothic"/>
                <a:ea typeface="Yu Gothic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087368"/>
            <a:ext cx="44956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33A45"/>
                </a:solidFill>
                <a:latin typeface="Yu Gothic"/>
                <a:ea typeface="Yu Gothic"/>
              </a:rPr>
              <a:t>参加上限の募集要項への明記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8727" y="3886200"/>
            <a:ext cx="5410047" cy="713232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79895" y="4059936"/>
            <a:ext cx="365760" cy="365760"/>
          </a:xfrm>
          <a:prstGeom prst="ellipse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Yu Gothic"/>
                <a:ea typeface="Yu Gothic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0247" y="4087368"/>
            <a:ext cx="44956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33A45"/>
                </a:solidFill>
                <a:latin typeface="Yu Gothic"/>
                <a:ea typeface="Yu Gothic"/>
              </a:rPr>
              <a:t>2回目参加者の配置（グループ編成）ルール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754880"/>
            <a:ext cx="5410047" cy="713232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4088" y="4928616"/>
            <a:ext cx="365760" cy="365760"/>
          </a:xfrm>
          <a:prstGeom prst="ellipse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Yu Gothic"/>
                <a:ea typeface="Yu Gothic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956048"/>
            <a:ext cx="44956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33A45"/>
                </a:solidFill>
                <a:latin typeface="Yu Gothic"/>
                <a:ea typeface="Yu Gothic"/>
              </a:rPr>
              <a:t>参加後支援案（A〜C）の試行内容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78727" y="4754880"/>
            <a:ext cx="5410047" cy="713232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79895" y="4928616"/>
            <a:ext cx="365760" cy="365760"/>
          </a:xfrm>
          <a:prstGeom prst="ellipse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Yu Gothic"/>
                <a:ea typeface="Yu Gothic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0247" y="4956048"/>
            <a:ext cx="44956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33A45"/>
                </a:solidFill>
                <a:latin typeface="Yu Gothic"/>
                <a:ea typeface="Yu Gothic"/>
              </a:rPr>
              <a:t>サポーターの役割・謝礼・講座時間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